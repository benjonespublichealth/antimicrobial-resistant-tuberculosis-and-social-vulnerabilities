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7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2"/>
  </p:normalViewPr>
  <p:slideViewPr>
    <p:cSldViewPr snapToGrid="0">
      <p:cViewPr>
        <p:scale>
          <a:sx n="172" d="100"/>
          <a:sy n="172" d="100"/>
        </p:scale>
        <p:origin x="-496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a4340a7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a4340a7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4340a799_0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4340a799_0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a4340a799_0_2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a4340a799_0_2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4340a799_0_2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4340a799_0_2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a4340a7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a4340a7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a4340a79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a4340a79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a4340a7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a4340a7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4340a799_0_2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4340a799_0_2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4340a799_0_2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a4340a799_0_2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gettyimages.com/detail/illustration/cartoon-medical-person-taking-x-ray-for-royalty-free-illustration/1359929878" TargetMode="External"/><Relationship Id="rId4" Type="http://schemas.openxmlformats.org/officeDocument/2006/relationships/hyperlink" Target="https://www.gettyimages.com/detail/illustration/research-icon-royalty-free-illustration/94241755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gettyimages.com/detail/illustration/cartoon-medical-person-taking-x-ray-for-royalty-free-illustration/135992987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The Intersection of Antimicrobial-Resistant Tuberculosis and Social Vulnerabilities in Moldova: A Retrospective Analysis</a:t>
            </a:r>
            <a:endParaRPr sz="320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Ben Jones</a:t>
            </a:r>
            <a:endParaRPr sz="1800"/>
          </a:p>
          <a:p>
            <a:pPr marL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ctr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ILE: Epidemiology &amp; Biostatistics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MDR-TB is resistant to: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Rifampicin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Isoniazid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150,000 annual deaths globally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Standard TB treatment: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6 - 9 months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MDR-TB treatment: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24+ months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Social factors (i.e. homelessness) can influence risk of negative clinical outcomes</a:t>
            </a:r>
            <a:endParaRPr sz="2000"/>
          </a:p>
        </p:txBody>
      </p:sp>
      <p:pic>
        <p:nvPicPr>
          <p:cNvPr id="74" name="Google Shape;74;p1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92367">
            <a:off x="4896117" y="514433"/>
            <a:ext cx="3903508" cy="19516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7584725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4595D"/>
                </a:solidFill>
                <a:highlight>
                  <a:srgbClr val="F8F9FA"/>
                </a:highlight>
              </a:rPr>
              <a:t>Image: Gheorghe Vrabie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Hypotheses + Aims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 dirty="0"/>
              <a:t>Hypothesis 1:</a:t>
            </a:r>
            <a:endParaRPr sz="22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dirty="0"/>
              <a:t>All types of drug-resistant TB are associated with higher odds of mortality compared to drug-susceptible TB.</a:t>
            </a:r>
            <a:endParaRPr sz="18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 dirty="0"/>
              <a:t>Hypothesis 2:</a:t>
            </a:r>
            <a:endParaRPr sz="22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dirty="0"/>
              <a:t>All social vulnerabilities looked at are associated with higher odds of having some type of drug-resistant TB.</a:t>
            </a:r>
            <a:endParaRPr sz="18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 dirty="0"/>
              <a:t>Aims:</a:t>
            </a:r>
            <a:endParaRPr sz="22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dirty="0"/>
              <a:t>Quantify the relationships between TB mortality, TB drug resistance, and social vulnerabilities.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Inclusion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Source: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BUSPH Department of Epidemiology &amp; Biostatistics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11,687 TB-positive patients in Moldova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Collected between 2008 - 2009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Inclusion in Analysis: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Confirmed TB test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Drug susceptibility testing results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Known treatment outcome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No missing variable data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Final Sample Size: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6,414 patients</a:t>
            </a:r>
            <a:endParaRPr sz="1700"/>
          </a:p>
        </p:txBody>
      </p:sp>
      <p:pic>
        <p:nvPicPr>
          <p:cNvPr id="88" name="Google Shape;88;p16" descr="Research Icon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475" y="2085500"/>
            <a:ext cx="2757228" cy="275722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983925" y="4797300"/>
            <a:ext cx="3000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/>
              <a:t>Image: </a:t>
            </a:r>
            <a:r>
              <a:rPr lang="en" sz="800" i="1">
                <a:uFill>
                  <a:noFill/>
                </a:uFill>
                <a:hlinkClick r:id="rId4"/>
              </a:rPr>
              <a:t>Hiranmay Baidya / Getty Images</a:t>
            </a:r>
            <a:endParaRPr sz="800" i="1">
              <a:uFill>
                <a:noFill/>
              </a:uFill>
              <a:hlinkClick r:id="rId4"/>
            </a:endParaRPr>
          </a:p>
          <a:p>
            <a:pPr marL="203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1">
              <a:uFill>
                <a:noFill/>
              </a:uFill>
              <a:hlinkClick r:id="rId5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Statistical Approach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Mortality Model: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Binary logistic regression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Evaluate association between drug resistance type and TB mortality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Social Factors Model: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Multinomial logistic regression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Identify factors associated with different types of drug resistance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Covariates: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9 Social Factors including but not limited to:</a:t>
            </a:r>
            <a:endParaRPr sz="1800"/>
          </a:p>
        </p:txBody>
      </p:sp>
      <p:sp>
        <p:nvSpPr>
          <p:cNvPr id="96" name="Google Shape;96;p17"/>
          <p:cNvSpPr txBox="1"/>
          <p:nvPr/>
        </p:nvSpPr>
        <p:spPr>
          <a:xfrm>
            <a:off x="1063625" y="3984600"/>
            <a:ext cx="3873600" cy="1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Age at diagnosis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Sex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454400" y="3984600"/>
            <a:ext cx="3873600" cy="1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Occupation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Homelessness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 title="Screenshot 2026-04-26 at 11.34.46 PM.png"/>
          <p:cNvPicPr preferRelativeResize="0"/>
          <p:nvPr/>
        </p:nvPicPr>
        <p:blipFill rotWithShape="1">
          <a:blip r:embed="rId3">
            <a:alphaModFix/>
          </a:blip>
          <a:srcRect b="53360"/>
          <a:stretch/>
        </p:blipFill>
        <p:spPr>
          <a:xfrm>
            <a:off x="0" y="1373925"/>
            <a:ext cx="4845600" cy="267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 title="Screenshot 2026-04-26 at 11.34.46 PM.png"/>
          <p:cNvPicPr preferRelativeResize="0"/>
          <p:nvPr/>
        </p:nvPicPr>
        <p:blipFill rotWithShape="1">
          <a:blip r:embed="rId3">
            <a:alphaModFix/>
          </a:blip>
          <a:srcRect t="46455"/>
          <a:stretch/>
        </p:blipFill>
        <p:spPr>
          <a:xfrm>
            <a:off x="4704525" y="1649350"/>
            <a:ext cx="4439475" cy="2816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Statistics of Sample Population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Mortality Model</a:t>
            </a:r>
            <a:endParaRPr/>
          </a:p>
        </p:txBody>
      </p:sp>
      <p:pic>
        <p:nvPicPr>
          <p:cNvPr id="110" name="Google Shape;110;p19" title="Screenshot 2026-04-26 at 11.54.07 PM.png"/>
          <p:cNvPicPr preferRelativeResize="0"/>
          <p:nvPr/>
        </p:nvPicPr>
        <p:blipFill rotWithShape="1">
          <a:blip r:embed="rId3">
            <a:alphaModFix/>
          </a:blip>
          <a:srcRect l="6452" t="3348" r="2804" b="3124"/>
          <a:stretch/>
        </p:blipFill>
        <p:spPr>
          <a:xfrm>
            <a:off x="4774550" y="-10"/>
            <a:ext cx="4057751" cy="5012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0" y="1266325"/>
            <a:ext cx="4572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MDR-TB had 3.4 times the odds of mortality (compared to susceptible TB)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Unemployed had 6.3 times the odds of mortality (compared to workers)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Other major predictors are being on disability (OR: 5.44) and homelessness (OR: 2.01)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5242975" y="57317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5242975" y="70817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5242975" y="109477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5242975" y="2408650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5242975" y="307037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242975" y="320537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242975" y="424412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5242975" y="410912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5242975" y="3974125"/>
            <a:ext cx="34476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Social Factors Model</a:t>
            </a:r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38175" y="1266325"/>
            <a:ext cx="45339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Prior incarceration doubled odds of contracting MDR-TB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Females had 26% lower odds of contracting MDR-TB compared to males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No education associated with 50% lower odds of contracting MDR-TB compared to secondary education</a:t>
            </a:r>
            <a:endParaRPr dirty="0"/>
          </a:p>
        </p:txBody>
      </p:sp>
      <p:pic>
        <p:nvPicPr>
          <p:cNvPr id="127" name="Google Shape;127;p20" title="Screenshot 2026-04-26 at 11.55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00" y="162775"/>
            <a:ext cx="4376624" cy="481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6229600" y="103722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229600" y="1315800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6229600" y="159437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6229600" y="242467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7190500" y="159437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8171700" y="159437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7190500" y="1315800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7190500" y="103722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8171700" y="2999550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229600" y="2864550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229600" y="4100825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6229600" y="3262750"/>
            <a:ext cx="868500" cy="135000"/>
          </a:xfrm>
          <a:prstGeom prst="rect">
            <a:avLst/>
          </a:prstGeom>
          <a:solidFill>
            <a:srgbClr val="F9FF12">
              <a:alpha val="33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Complexity of drug-resistant strains of TB can triple the mortality risk</a:t>
            </a:r>
            <a:endParaRPr sz="190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492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High odds associated with unemployment and being on disability</a:t>
            </a:r>
            <a:endParaRPr sz="190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492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Incarceration remains high-transmission environment for TB</a:t>
            </a:r>
            <a:endParaRPr sz="190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/>
          </a:p>
          <a:p>
            <a:pPr marL="457200" lvl="0" indent="-3492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Limitations:</a:t>
            </a:r>
            <a:endParaRPr sz="1900"/>
          </a:p>
          <a:p>
            <a:pPr marL="914400" lvl="1" indent="-3238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Retrospective</a:t>
            </a:r>
            <a:endParaRPr sz="1500"/>
          </a:p>
          <a:p>
            <a:pPr marL="914400" lvl="1" indent="-3238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2008 Financial Crisis</a:t>
            </a:r>
            <a:endParaRPr sz="1500"/>
          </a:p>
        </p:txBody>
      </p:sp>
      <p:pic>
        <p:nvPicPr>
          <p:cNvPr id="146" name="Google Shape;146;p21" descr="Cartoon medical person taking X-ray for patient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649" y="3069175"/>
            <a:ext cx="2715300" cy="1809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7236650" y="47973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/>
              <a:t>Image: </a:t>
            </a:r>
            <a:r>
              <a:rPr lang="en" sz="800" i="1">
                <a:uFill>
                  <a:noFill/>
                </a:uFill>
                <a:hlinkClick r:id="rId4"/>
              </a:rPr>
              <a:t>BRO Vector / Getty Images</a:t>
            </a:r>
            <a:endParaRPr sz="800" i="1">
              <a:uFill>
                <a:noFill/>
              </a:uFill>
              <a:hlinkClick r:id="rId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intersection of drug-resistance and social vulnerability creates a crisis that pharmacology alone cannot solve.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Social realities are as impactful, if not more so, than the presence of MDR-TB itself regarding mortality.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Public health interventions must include soial protection programs and economic support to effectively control the disease.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Macintosh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Arial</vt:lpstr>
      <vt:lpstr>PT Sans Narrow</vt:lpstr>
      <vt:lpstr>Tropic</vt:lpstr>
      <vt:lpstr>The Intersection of Antimicrobial-Resistant Tuberculosis and Social Vulnerabilities in Moldova: A Retrospective Analysis</vt:lpstr>
      <vt:lpstr>Background</vt:lpstr>
      <vt:lpstr>Research Hypotheses + Aims</vt:lpstr>
      <vt:lpstr>Methodology: Data Inclusion</vt:lpstr>
      <vt:lpstr>Methodology: Statistical Approach</vt:lpstr>
      <vt:lpstr>Descriptive Statistics of Sample Population</vt:lpstr>
      <vt:lpstr>Results: Mortality Model</vt:lpstr>
      <vt:lpstr>Results: Social Factors Model</vt:lpstr>
      <vt:lpstr>Discussion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Jones, Benjamin</cp:lastModifiedBy>
  <cp:revision>1</cp:revision>
  <dcterms:modified xsi:type="dcterms:W3CDTF">2026-04-28T02:14:37Z</dcterms:modified>
</cp:coreProperties>
</file>